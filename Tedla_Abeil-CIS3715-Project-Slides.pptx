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Space Grotesk Light"/>
      <p:regular r:id="rId16"/>
      <p:bold r:id="rId17"/>
    </p:embeddedFont>
    <p:embeddedFont>
      <p:font typeface="Space Grotesk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SpaceGroteskLight-bold.fntdata"/><Relationship Id="rId16" Type="http://schemas.openxmlformats.org/officeDocument/2006/relationships/font" Target="fonts/SpaceGroteskLight-regular.fntdata"/><Relationship Id="rId19" Type="http://schemas.openxmlformats.org/officeDocument/2006/relationships/font" Target="fonts/SpaceGrotesk-bold.fntdata"/><Relationship Id="rId18" Type="http://schemas.openxmlformats.org/officeDocument/2006/relationships/font" Target="fonts/SpaceGrotes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8bb22ff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8bb22ff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8bb22ffdb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d8bb22ffdb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8bb22ffdb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d8bb22ffdb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d8bb22ffdb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d8bb22ffdb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8bb22ffdb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8bb22ffdb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8bb22ffdb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d8bb22ffdb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8" type="title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messures">
  <p:cSld name="CUSTOM_8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3" type="title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4" type="title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5" type="title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6" type="title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7" type="title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hasCustomPrompt="1" idx="8" type="title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7"/>
          <p:cNvSpPr txBox="1"/>
          <p:nvPr>
            <p:ph idx="9" type="title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6" name="Google Shape;46;p7"/>
          <p:cNvSpPr txBox="1"/>
          <p:nvPr>
            <p:ph hasCustomPrompt="1" idx="13" type="title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7"/>
          <p:cNvSpPr txBox="1"/>
          <p:nvPr>
            <p:ph idx="14" type="title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8" name="Google Shape;48;p7"/>
          <p:cNvSpPr txBox="1"/>
          <p:nvPr>
            <p:ph hasCustomPrompt="1" idx="15" type="title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7"/>
          <p:cNvSpPr txBox="1"/>
          <p:nvPr>
            <p:ph idx="16" type="title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hasCustomPrompt="1" idx="17" type="title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7"/>
          <p:cNvSpPr txBox="1"/>
          <p:nvPr>
            <p:ph idx="18" type="title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2" name="Google Shape;52;p7"/>
          <p:cNvSpPr txBox="1"/>
          <p:nvPr>
            <p:ph hasCustomPrompt="1" idx="19" type="title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7"/>
          <p:cNvSpPr txBox="1"/>
          <p:nvPr>
            <p:ph idx="20" type="title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4" name="Google Shape;54;p7"/>
          <p:cNvSpPr txBox="1"/>
          <p:nvPr>
            <p:ph hasCustomPrompt="1" idx="21" type="title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7"/>
          <p:cNvSpPr txBox="1"/>
          <p:nvPr>
            <p:ph idx="22" type="title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subTitle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5" type="subTitle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7" type="subTitle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5" name="Google Shape;65;p8"/>
          <p:cNvSpPr txBox="1"/>
          <p:nvPr>
            <p:ph idx="8" type="subTitle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6" name="Google Shape;66;p8"/>
          <p:cNvSpPr txBox="1"/>
          <p:nvPr>
            <p:ph idx="9" type="subTitle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ndicators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hasCustomPrompt="1"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hasCustomPrompt="1"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9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4" type="title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3" name="Google Shape;73;p9"/>
          <p:cNvSpPr txBox="1"/>
          <p:nvPr>
            <p:ph hasCustomPrompt="1"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7" name="Google Shape;77;p10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78" name="Google Shape;78;p10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4" name="Google Shape;84;p10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/>
          <p:nvPr>
            <p:ph idx="3" type="pic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/>
          <p:nvPr>
            <p:ph idx="4" type="pic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/>
          <p:nvPr>
            <p:ph idx="5" type="pic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0" name="Google Shape;90;p11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1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1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1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1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6" type="subTitle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7" type="subTitle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8" type="subTitle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9" type="subTitle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3" type="subTitle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14" type="subTitle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15" type="subTitle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16" type="subTitle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17" type="subTitle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18" type="subTitle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19" type="subTitle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>
            <p:ph idx="2" type="pic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2"/>
          <p:cNvSpPr/>
          <p:nvPr>
            <p:ph idx="3" type="pic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2"/>
          <p:cNvSpPr/>
          <p:nvPr>
            <p:ph idx="4" type="pic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2"/>
          <p:cNvSpPr/>
          <p:nvPr>
            <p:ph idx="5" type="pic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6" type="subTitle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7" type="subTitle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8" type="subTitle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9" type="subTitle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13" type="subTitle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4" type="subTitle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15" type="subTitle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2" type="subTitle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>
            <p:ph idx="2" type="pic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3" type="subTitle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4" type="subTitle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5" type="subTitle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3" name="Google Shape;133;p14"/>
          <p:cNvSpPr/>
          <p:nvPr>
            <p:ph idx="6" type="pic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4"/>
          <p:cNvSpPr txBox="1"/>
          <p:nvPr>
            <p:ph idx="7" type="subTitle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8" type="subTitle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5"/>
          <p:cNvSpPr/>
          <p:nvPr/>
        </p:nvSpPr>
        <p:spPr>
          <a:xfrm flipH="1" rot="-5400000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15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4" name="Google Shape;144;p15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5" name="Google Shape;145;p15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5"/>
          <p:cNvSpPr/>
          <p:nvPr/>
        </p:nvSpPr>
        <p:spPr>
          <a:xfrm flipH="1" rot="-5400000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">
  <p:cSld name="BLANK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3" name="Google Shape;153;p16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16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16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p16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16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2" name="Google Shape;162;p16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3" name="Google Shape;163;p16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 txBox="1"/>
          <p:nvPr>
            <p:ph idx="2" type="subTitle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2" name="Google Shape;172;p17"/>
          <p:cNvSpPr txBox="1"/>
          <p:nvPr>
            <p:ph idx="4" type="subTitle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17"/>
          <p:cNvSpPr txBox="1"/>
          <p:nvPr>
            <p:ph idx="5" type="subTitle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6" type="subTitle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7" type="subTitle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8" type="subTitle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9" type="body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3" type="body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14" type="body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15" type="body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8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18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18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5" name="Google Shape;195;p18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8" name="Google Shape;198;p18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1" name="Google Shape;201;p18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8" name="Google Shape;208;p18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10" name="Google Shape;210;p18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4" name="Google Shape;214;p19"/>
          <p:cNvSpPr/>
          <p:nvPr>
            <p:ph idx="2" type="pic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16" name="Google Shape;216;p19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9"/>
          <p:cNvSpPr/>
          <p:nvPr/>
        </p:nvSpPr>
        <p:spPr>
          <a:xfrm flipH="1" rot="5400000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9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9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2" name="Google Shape;222;p20"/>
          <p:cNvSpPr/>
          <p:nvPr>
            <p:ph idx="2" type="pic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 txBox="1"/>
          <p:nvPr>
            <p:ph hasCustomPrompt="1"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4" name="Google Shape;224;p20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>
            <p:ph idx="2" type="pic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1"/>
          <p:cNvSpPr/>
          <p:nvPr>
            <p:ph idx="3" type="pic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1"/>
          <p:cNvSpPr/>
          <p:nvPr>
            <p:ph idx="4" type="pic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1" name="Google Shape;231;p21"/>
          <p:cNvSpPr txBox="1"/>
          <p:nvPr>
            <p:ph idx="1" type="body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2" name="Google Shape;232;p21"/>
          <p:cNvSpPr txBox="1"/>
          <p:nvPr>
            <p:ph idx="5" type="body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3" name="Google Shape;233;p21"/>
          <p:cNvSpPr txBox="1"/>
          <p:nvPr>
            <p:ph idx="6" type="body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4" name="Google Shape;234;p21"/>
          <p:cNvSpPr txBox="1"/>
          <p:nvPr>
            <p:ph idx="7" type="subTitle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5" name="Google Shape;235;p21"/>
          <p:cNvSpPr txBox="1"/>
          <p:nvPr>
            <p:ph idx="8" type="subTitle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idx="9" type="subTitle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" name="Google Shape;239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3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3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3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3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3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7" name="Google Shape;277;p3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3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3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3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3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5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226100" y="144575"/>
            <a:ext cx="8689200" cy="196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Predicting Video Game Success Using Machine Learning</a:t>
            </a:r>
            <a:endParaRPr sz="5000"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20" name="Google Shape;320;p38"/>
          <p:cNvSpPr txBox="1"/>
          <p:nvPr>
            <p:ph idx="1" type="subTitle"/>
          </p:nvPr>
        </p:nvSpPr>
        <p:spPr>
          <a:xfrm>
            <a:off x="228600" y="2888900"/>
            <a:ext cx="5107800" cy="7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Rockwell"/>
                <a:ea typeface="Rockwell"/>
                <a:cs typeface="Rockwell"/>
                <a:sym typeface="Rockwell"/>
              </a:rPr>
              <a:t>Abeil Tedla</a:t>
            </a:r>
            <a:endParaRPr sz="2300"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Rockwell"/>
                <a:ea typeface="Rockwell"/>
                <a:cs typeface="Rockwell"/>
                <a:sym typeface="Rockwell"/>
              </a:rPr>
              <a:t>CIS 3715 - Principles of Data Science </a:t>
            </a:r>
            <a:endParaRPr sz="2300"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9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ckwell"/>
                <a:ea typeface="Rockwell"/>
                <a:cs typeface="Rockwell"/>
                <a:sym typeface="Rockwell"/>
              </a:rPr>
              <a:t>Topic and Objective</a:t>
            </a:r>
            <a:endParaRPr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26" name="Google Shape;326;p39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ckwell"/>
              <a:buChar char="●"/>
            </a:pPr>
            <a:r>
              <a:rPr lang="en" sz="1600">
                <a:latin typeface="Rockwell"/>
                <a:ea typeface="Rockwell"/>
                <a:cs typeface="Rockwell"/>
                <a:sym typeface="Rockwell"/>
              </a:rPr>
              <a:t>Predict whether a game is a </a:t>
            </a:r>
            <a:r>
              <a:rPr i="1" lang="en" sz="1600">
                <a:latin typeface="Rockwell"/>
                <a:ea typeface="Rockwell"/>
                <a:cs typeface="Rockwell"/>
                <a:sym typeface="Rockwell"/>
              </a:rPr>
              <a:t>hit</a:t>
            </a:r>
            <a:r>
              <a:rPr lang="en" sz="1600">
                <a:latin typeface="Rockwell"/>
                <a:ea typeface="Rockwell"/>
                <a:cs typeface="Rockwell"/>
                <a:sym typeface="Rockwell"/>
              </a:rPr>
              <a:t> </a:t>
            </a:r>
            <a:endParaRPr sz="1600">
              <a:latin typeface="Rockwell"/>
              <a:ea typeface="Rockwell"/>
              <a:cs typeface="Rockwell"/>
              <a:sym typeface="Rockwel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ckwell"/>
              <a:buChar char="●"/>
            </a:pPr>
            <a:r>
              <a:rPr lang="en" sz="1600">
                <a:latin typeface="Rockwell"/>
                <a:ea typeface="Rockwell"/>
                <a:cs typeface="Rockwell"/>
                <a:sym typeface="Rockwell"/>
              </a:rPr>
              <a:t>Hit is  ≥ 1 million global sales</a:t>
            </a:r>
            <a:endParaRPr sz="1600">
              <a:latin typeface="Rockwell"/>
              <a:ea typeface="Rockwell"/>
              <a:cs typeface="Rockwell"/>
              <a:sym typeface="Rockwel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ckwell"/>
              <a:buChar char="●"/>
            </a:pPr>
            <a:r>
              <a:rPr lang="en" sz="1600">
                <a:latin typeface="Rockwell"/>
                <a:ea typeface="Rockwell"/>
                <a:cs typeface="Rockwell"/>
                <a:sym typeface="Rockwell"/>
              </a:rPr>
              <a:t>Identify key factors driving success</a:t>
            </a:r>
            <a:endParaRPr sz="1600"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/>
          <p:nvPr>
            <p:ph type="title"/>
          </p:nvPr>
        </p:nvSpPr>
        <p:spPr>
          <a:xfrm>
            <a:off x="212450" y="177900"/>
            <a:ext cx="38268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Description of Data</a:t>
            </a:r>
            <a:endParaRPr>
              <a:solidFill>
                <a:schemeClr val="accent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32" name="Google Shape;332;p40"/>
          <p:cNvSpPr txBox="1"/>
          <p:nvPr>
            <p:ph idx="1" type="body"/>
          </p:nvPr>
        </p:nvSpPr>
        <p:spPr>
          <a:xfrm>
            <a:off x="212450" y="593400"/>
            <a:ext cx="3729600" cy="27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ckwell"/>
                <a:ea typeface="Rockwell"/>
                <a:cs typeface="Rockwell"/>
                <a:sym typeface="Rockwell"/>
              </a:rPr>
              <a:t>Video Game Sales Dataset from Kaggle</a:t>
            </a:r>
            <a:endParaRPr sz="1600">
              <a:latin typeface="Rockwell"/>
              <a:ea typeface="Rockwell"/>
              <a:cs typeface="Rockwell"/>
              <a:sym typeface="Rockwel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ckwell"/>
              <a:buChar char="●"/>
            </a:pPr>
            <a:r>
              <a:rPr lang="en" sz="1600">
                <a:latin typeface="Rockwell"/>
                <a:ea typeface="Rockwell"/>
                <a:cs typeface="Rockwell"/>
                <a:sym typeface="Rockwell"/>
              </a:rPr>
              <a:t>16,598 games → 16,327 after cleaning</a:t>
            </a:r>
            <a:endParaRPr sz="1600">
              <a:latin typeface="Rockwell"/>
              <a:ea typeface="Rockwell"/>
              <a:cs typeface="Rockwell"/>
              <a:sym typeface="Rockwel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ckwell"/>
              <a:buChar char="●"/>
            </a:pPr>
            <a:r>
              <a:rPr lang="en" sz="1600">
                <a:latin typeface="Rockwell"/>
                <a:ea typeface="Rockwell"/>
                <a:cs typeface="Rockwell"/>
                <a:sym typeface="Rockwell"/>
              </a:rPr>
              <a:t>11,493 uniques</a:t>
            </a:r>
            <a:endParaRPr sz="1600"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ckwell"/>
                <a:ea typeface="Rockwell"/>
                <a:cs typeface="Rockwell"/>
                <a:sym typeface="Rockwell"/>
              </a:rPr>
              <a:t>Features </a:t>
            </a:r>
            <a:endParaRPr sz="1600">
              <a:latin typeface="Rockwell"/>
              <a:ea typeface="Rockwell"/>
              <a:cs typeface="Rockwell"/>
              <a:sym typeface="Rockwel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ckwell"/>
              <a:buChar char="●"/>
            </a:pPr>
            <a:r>
              <a:rPr lang="en" sz="1600">
                <a:latin typeface="Rockwell"/>
                <a:ea typeface="Rockwell"/>
                <a:cs typeface="Rockwell"/>
                <a:sym typeface="Rockwell"/>
              </a:rPr>
              <a:t>Name, Platform, Genre, Publisher, Year</a:t>
            </a:r>
            <a:endParaRPr sz="1600">
              <a:latin typeface="Rockwell"/>
              <a:ea typeface="Rockwell"/>
              <a:cs typeface="Rockwell"/>
              <a:sym typeface="Rockwel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ckwell"/>
              <a:buChar char="●"/>
            </a:pPr>
            <a:r>
              <a:rPr lang="en" sz="1600">
                <a:latin typeface="Rockwell"/>
                <a:ea typeface="Rockwell"/>
                <a:cs typeface="Rockwell"/>
                <a:sym typeface="Rockwell"/>
              </a:rPr>
              <a:t>Regional sales (removed for modeling)</a:t>
            </a:r>
            <a:endParaRPr sz="1600"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ckwell"/>
                <a:ea typeface="Rockwell"/>
                <a:cs typeface="Rockwell"/>
                <a:sym typeface="Rockwell"/>
              </a:rPr>
              <a:t>Target</a:t>
            </a:r>
            <a:endParaRPr sz="1600">
              <a:latin typeface="Rockwell"/>
              <a:ea typeface="Rockwell"/>
              <a:cs typeface="Rockwell"/>
              <a:sym typeface="Rockwel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ckwell"/>
              <a:buChar char="●"/>
            </a:pPr>
            <a:r>
              <a:rPr lang="en" sz="1600">
                <a:latin typeface="Rockwell"/>
                <a:ea typeface="Rockwell"/>
                <a:cs typeface="Rockwell"/>
                <a:sym typeface="Rockwell"/>
              </a:rPr>
              <a:t>Hit vs. Non-Hit</a:t>
            </a:r>
            <a:endParaRPr sz="1600">
              <a:latin typeface="Rockwell"/>
              <a:ea typeface="Rockwell"/>
              <a:cs typeface="Rockwell"/>
              <a:sym typeface="Rockwel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ckwell"/>
              <a:buChar char="●"/>
            </a:pPr>
            <a:r>
              <a:rPr lang="en" sz="1600">
                <a:latin typeface="Rockwell"/>
                <a:ea typeface="Rockwell"/>
                <a:cs typeface="Rockwell"/>
                <a:sym typeface="Rockwell"/>
              </a:rPr>
              <a:t>12.6% are Hits</a:t>
            </a:r>
            <a:endParaRPr sz="1600"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333" name="Google Shape;333;p40" title="Screen Shot 2026-04-13 at 9.59.1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9250" y="100200"/>
            <a:ext cx="2924576" cy="22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0" title="Screen Shot 2026-04-13 at 9.5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5350" y="2353725"/>
            <a:ext cx="2859397" cy="21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41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41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41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41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41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Description of Model</a:t>
            </a:r>
            <a:endParaRPr/>
          </a:p>
        </p:txBody>
      </p:sp>
      <p:sp>
        <p:nvSpPr>
          <p:cNvPr id="344" name="Google Shape;344;p41"/>
          <p:cNvSpPr txBox="1"/>
          <p:nvPr/>
        </p:nvSpPr>
        <p:spPr>
          <a:xfrm>
            <a:off x="317500" y="1037175"/>
            <a:ext cx="3429000" cy="3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Models used </a:t>
            </a:r>
            <a:endParaRPr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Logistic Regression</a:t>
            </a:r>
            <a:endParaRPr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Decision Tree</a:t>
            </a:r>
            <a:endParaRPr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Model Pipeline</a:t>
            </a:r>
            <a:endParaRPr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Reduced publishers → Top 10 + “Other”</a:t>
            </a:r>
            <a:endParaRPr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One-hot encoding (Platform, Genre, Publisher)</a:t>
            </a:r>
            <a:endParaRPr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Created </a:t>
            </a:r>
            <a:r>
              <a:rPr lang="en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MultiPlatform</a:t>
            </a:r>
            <a:r>
              <a:rPr lang="en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 features</a:t>
            </a:r>
            <a:endParaRPr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Removed sales features to prevent leakage</a:t>
            </a:r>
            <a:endParaRPr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345" name="Google Shape;34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9975" y="177900"/>
            <a:ext cx="2759375" cy="151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9350" y="1598100"/>
            <a:ext cx="1619249" cy="1619249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1"/>
          <p:cNvSpPr txBox="1"/>
          <p:nvPr/>
        </p:nvSpPr>
        <p:spPr>
          <a:xfrm>
            <a:off x="4381500" y="2413000"/>
            <a:ext cx="25611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Techniques </a:t>
            </a:r>
            <a:endParaRPr sz="13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ckwell"/>
              <a:buChar char="●"/>
            </a:pPr>
            <a:r>
              <a:rPr lang="en" sz="13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Train/test split (80/20)</a:t>
            </a:r>
            <a:endParaRPr sz="13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ckwell"/>
              <a:buChar char="●"/>
            </a:pPr>
            <a:r>
              <a:rPr lang="en" sz="13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Feature scaling for Logistic Regression</a:t>
            </a:r>
            <a:endParaRPr sz="13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ckwell"/>
              <a:buChar char="●"/>
            </a:pPr>
            <a:r>
              <a:rPr lang="en" sz="13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Class weighting</a:t>
            </a:r>
            <a:endParaRPr sz="13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2"/>
          <p:cNvSpPr txBox="1"/>
          <p:nvPr>
            <p:ph type="title"/>
          </p:nvPr>
        </p:nvSpPr>
        <p:spPr>
          <a:xfrm>
            <a:off x="212450" y="177900"/>
            <a:ext cx="64467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Results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53" name="Google Shape;353;p42"/>
          <p:cNvSpPr txBox="1"/>
          <p:nvPr/>
        </p:nvSpPr>
        <p:spPr>
          <a:xfrm>
            <a:off x="306925" y="941925"/>
            <a:ext cx="3291300" cy="15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Logistic Regression Performance</a:t>
            </a:r>
            <a:endParaRPr sz="13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ckwell"/>
              <a:buChar char="●"/>
            </a:pPr>
            <a:r>
              <a:rPr lang="en" sz="13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Accuracy: 71.3%</a:t>
            </a:r>
            <a:endParaRPr sz="13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ckwell"/>
              <a:buChar char="●"/>
            </a:pPr>
            <a:r>
              <a:rPr lang="en" sz="13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Recall: 70.6%</a:t>
            </a:r>
            <a:endParaRPr sz="13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ckwell"/>
              <a:buChar char="●"/>
            </a:pPr>
            <a:r>
              <a:rPr lang="en" sz="13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F1-Score: 0.36</a:t>
            </a:r>
            <a:endParaRPr sz="13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354" name="Google Shape;354;p42" title="Screen Shot 2026-04-21 at 8.27.3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550" y="131975"/>
            <a:ext cx="4547100" cy="243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2" title="Screen Shot 2026-04-22 at 6.39.4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0" y="2300800"/>
            <a:ext cx="4198275" cy="211242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2"/>
          <p:cNvSpPr txBox="1"/>
          <p:nvPr/>
        </p:nvSpPr>
        <p:spPr>
          <a:xfrm>
            <a:off x="4730750" y="2910425"/>
            <a:ext cx="38628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rgbClr val="111111"/>
                </a:highlight>
                <a:latin typeface="Rockwell"/>
                <a:ea typeface="Rockwell"/>
                <a:cs typeface="Rockwell"/>
                <a:sym typeface="Rockwell"/>
              </a:rPr>
              <a:t>The most important factor in predicting game success is whether the game is published by a major publisher. Among major publishers, Nintendo stands out as a unique case, reflecting its strong ecosystem of exclusive titles. For smaller publishers, success is strongly influenced by release year, with older games having a higher likelihood of becoming hits.</a:t>
            </a:r>
            <a:endParaRPr sz="10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357" name="Google Shape;357;p42" title="GW5u3DlXEAAvXbQ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6475" y="1218625"/>
            <a:ext cx="1255300" cy="102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43" title="oacmn-gam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900" y="688075"/>
            <a:ext cx="6867013" cy="407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